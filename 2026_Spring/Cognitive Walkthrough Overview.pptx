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</p:sldMasterIdLst>
  <p:notesMasterIdLst>
    <p:notesMasterId r:id="rId7"/>
  </p:notesMasterIdLst>
  <p:sldIdLst>
    <p:sldId id="256" r:id="rId2"/>
    <p:sldId id="477" r:id="rId3"/>
    <p:sldId id="485" r:id="rId4"/>
    <p:sldId id="486" r:id="rId5"/>
    <p:sldId id="487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4698" autoAdjust="0"/>
  </p:normalViewPr>
  <p:slideViewPr>
    <p:cSldViewPr snapToGrid="0">
      <p:cViewPr varScale="1">
        <p:scale>
          <a:sx n="84" d="100"/>
          <a:sy n="84" d="100"/>
        </p:scale>
        <p:origin x="852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7DAB06-A067-4AED-96DE-408ACAD4CFF5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80EEE-21A3-4D74-8EF9-88FA03FCC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153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 It Is</a:t>
            </a:r>
            <a:endParaRPr lang="en-US" dirty="0"/>
          </a:p>
          <a:p>
            <a:r>
              <a:rPr lang="en-US" dirty="0"/>
              <a:t>A usability evaluation method that examines how easily new users can complete tasks</a:t>
            </a:r>
          </a:p>
          <a:p>
            <a:r>
              <a:rPr lang="en-US" dirty="0"/>
              <a:t>Participant walk through tasks step-by-step from the user's perspective</a:t>
            </a:r>
          </a:p>
          <a:p>
            <a:r>
              <a:rPr lang="en-US" dirty="0"/>
              <a:t>Focuses on learnability and discoverability of interfaces</a:t>
            </a:r>
          </a:p>
          <a:p>
            <a:r>
              <a:rPr lang="en-US" b="1" dirty="0"/>
              <a:t>When to Use It</a:t>
            </a:r>
            <a:endParaRPr lang="en-US" dirty="0"/>
          </a:p>
          <a:p>
            <a:r>
              <a:rPr lang="en-US" dirty="0"/>
              <a:t>Early in the design phase, before full prototypes exist</a:t>
            </a:r>
          </a:p>
          <a:p>
            <a:r>
              <a:rPr lang="en-US" dirty="0"/>
              <a:t>When user testing isn't feasible due to time or budget constraints</a:t>
            </a:r>
          </a:p>
          <a:p>
            <a:r>
              <a:rPr lang="en-US" dirty="0"/>
              <a:t>For products where first-time user experience is critical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80EEE-21A3-4D74-8EF9-88FA03FCC57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78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80EEE-21A3-4D74-8EF9-88FA03FCC57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101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80EEE-21A3-4D74-8EF9-88FA03FCC57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1817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480EEE-21A3-4D74-8EF9-88FA03FCC57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91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F846F69A-B1C2-40DB-B6BE-49B4727A346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B7F970F9-92DA-4F00-B1A9-397229F9FBB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829247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6F69A-B1C2-40DB-B6BE-49B4727A346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970F9-92DA-4F00-B1A9-397229F9F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954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6F69A-B1C2-40DB-B6BE-49B4727A346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970F9-92DA-4F00-B1A9-397229F9FBB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08224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6F69A-B1C2-40DB-B6BE-49B4727A346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970F9-92DA-4F00-B1A9-397229F9F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26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6F69A-B1C2-40DB-B6BE-49B4727A346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970F9-92DA-4F00-B1A9-397229F9F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443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6F69A-B1C2-40DB-B6BE-49B4727A346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970F9-92DA-4F00-B1A9-397229F9F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170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6F69A-B1C2-40DB-B6BE-49B4727A346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970F9-92DA-4F00-B1A9-397229F9F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691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6F69A-B1C2-40DB-B6BE-49B4727A346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970F9-92DA-4F00-B1A9-397229F9F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587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6F69A-B1C2-40DB-B6BE-49B4727A346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970F9-92DA-4F00-B1A9-397229F9F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116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6F69A-B1C2-40DB-B6BE-49B4727A346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970F9-92DA-4F00-B1A9-397229F9F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987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6F69A-B1C2-40DB-B6BE-49B4727A346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970F9-92DA-4F00-B1A9-397229F9F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016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F846F69A-B1C2-40DB-B6BE-49B4727A3463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B7F970F9-92DA-4F00-B1A9-397229F9F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936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ngroup.com/articles/cognitive-walkthrough-workshop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95A6D-19FC-420B-A533-14C4F4F2E4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Cognitive Walkthrough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9613EE-36A6-4778-802C-012B65F117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145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D5C443-2CF2-E741-A5B2-EF0B07C8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95317"/>
            <a:ext cx="11430000" cy="697766"/>
          </a:xfrm>
        </p:spPr>
        <p:txBody>
          <a:bodyPr>
            <a:norm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What is a Cognitive Walkthrough?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8FC3C3-DE7B-5C4C-83E5-0745D309A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014102"/>
            <a:ext cx="10446224" cy="5849743"/>
          </a:xfrm>
        </p:spPr>
        <p:txBody>
          <a:bodyPr vert="horz" wrap="square" lIns="91440" tIns="45720" rIns="91440" bIns="0" rtlCol="0" anchor="t">
            <a:spAutoFit/>
          </a:bodyPr>
          <a:lstStyle/>
          <a:p>
            <a:pPr marL="394335" indent="-342900">
              <a:lnSpc>
                <a:spcPct val="12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usability evaluation method to examine how easily “new users” can complete tasks using a system/prototype.</a:t>
            </a:r>
          </a:p>
          <a:p>
            <a:pPr marL="394335" indent="-342900">
              <a:lnSpc>
                <a:spcPct val="12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Participant assumes the role a of “new user” and walks through each step of a task, answering specific set of questions and assessing the interface from a new user’s point of view. </a:t>
            </a:r>
          </a:p>
          <a:p>
            <a:pPr marL="394335" indent="-342900">
              <a:lnSpc>
                <a:spcPct val="12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Task‑centered: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Focuses on a small set of representative tasks that users must accomplish.</a:t>
            </a:r>
          </a:p>
          <a:p>
            <a:pPr marL="394335" indent="-342900">
              <a:lnSpc>
                <a:spcPct val="120000"/>
              </a:lnSpc>
              <a:spcBef>
                <a:spcPts val="300"/>
              </a:spcBef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Early‑stage friendly: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Can be run on paper sketches, wireframes, or low‑fidelity prototypes, so it’s useful before detailed visual design or full development.</a:t>
            </a:r>
          </a:p>
          <a:p>
            <a:pPr marL="51435" indent="0">
              <a:lnSpc>
                <a:spcPct val="120000"/>
              </a:lnSpc>
              <a:spcBef>
                <a:spcPts val="300"/>
              </a:spcBef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TL;DR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Its a structured, low‑cost method for checking whether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 prototype naturally guides users to the right actions and provides appropriate feedback for them to complete the task.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763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D5C443-2CF2-E741-A5B2-EF0B07C8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95317"/>
            <a:ext cx="11430000" cy="697766"/>
          </a:xfrm>
        </p:spPr>
        <p:txBody>
          <a:bodyPr>
            <a:normAutofit/>
          </a:bodyPr>
          <a:lstStyle/>
          <a:p>
            <a:r>
              <a:rPr lang="en-US" sz="4300" b="1" dirty="0">
                <a:latin typeface="Arial" panose="020B0604020202020204" pitchFamily="34" charset="0"/>
                <a:cs typeface="Arial" panose="020B0604020202020204" pitchFamily="34" charset="0"/>
              </a:rPr>
              <a:t>Designing Cognitive Walkthrough Session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8FC3C3-DE7B-5C4C-83E5-0745D309A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014102"/>
            <a:ext cx="10495248" cy="5081895"/>
          </a:xfrm>
        </p:spPr>
        <p:txBody>
          <a:bodyPr vert="horz" lIns="91440" tIns="45720" rIns="91440" bIns="0" rtlCol="0" anchor="t">
            <a:noAutofit/>
          </a:bodyPr>
          <a:lstStyle/>
          <a:p>
            <a:pPr marL="508635" indent="-457200">
              <a:lnSpc>
                <a:spcPct val="120000"/>
              </a:lnSpc>
              <a:spcBef>
                <a:spcPts val="300"/>
              </a:spcBef>
              <a:buAutoNum type="arabicPeriod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Identify participants and the “user role”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they should assume when walking through the prototype (i.e. spouse, mentor, crowd)</a:t>
            </a:r>
          </a:p>
          <a:p>
            <a:pPr marL="782955" lvl="1" indent="-457200">
              <a:lnSpc>
                <a:spcPct val="12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Provide a user scenario for the participant to reference to help motivate the user’s interaction with the prototype (“Who am I and what is my goal?)</a:t>
            </a:r>
          </a:p>
          <a:p>
            <a:pPr marL="508635" indent="-457200">
              <a:lnSpc>
                <a:spcPct val="120000"/>
              </a:lnSpc>
              <a:spcBef>
                <a:spcPts val="300"/>
              </a:spcBef>
              <a:buAutoNum type="arabicPeriod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Select 3-5 core tasks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that you want the participant/user to perform using the prototype. </a:t>
            </a:r>
          </a:p>
          <a:p>
            <a:pPr marL="508635" indent="-457200">
              <a:lnSpc>
                <a:spcPct val="120000"/>
              </a:lnSpc>
              <a:spcBef>
                <a:spcPts val="300"/>
              </a:spcBef>
              <a:buAutoNum type="arabicPeriod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Decompose each task into action sequences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(“happy paths”)</a:t>
            </a:r>
          </a:p>
          <a:p>
            <a:pPr marL="962628" lvl="1" indent="-457200">
              <a:lnSpc>
                <a:spcPct val="120000"/>
              </a:lnSpc>
              <a:spcBef>
                <a:spcPts val="300"/>
              </a:spcBef>
            </a:pPr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These are specific steps user would need to perform to complete the task (i.e. click this button, complete this field)</a:t>
            </a:r>
          </a:p>
          <a:p>
            <a:pPr marL="508635" indent="-457200">
              <a:lnSpc>
                <a:spcPct val="120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Develop facilitation guide with key questions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you need to ask the user as they perform each task. Example questions include:</a:t>
            </a:r>
          </a:p>
          <a:p>
            <a:pPr marL="962628" lvl="1" indent="-457200">
              <a:lnSpc>
                <a:spcPct val="120000"/>
              </a:lnSpc>
              <a:spcBef>
                <a:spcPts val="300"/>
              </a:spcBef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Does the user know what they are trying to accomplish at this point?</a:t>
            </a:r>
          </a:p>
          <a:p>
            <a:pPr marL="962628" lvl="1" indent="-457200">
              <a:lnSpc>
                <a:spcPct val="120000"/>
              </a:lnSpc>
              <a:spcBef>
                <a:spcPts val="300"/>
              </a:spcBef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Can the user easily see the next step they need to perform?</a:t>
            </a:r>
          </a:p>
          <a:p>
            <a:pPr marL="962628" lvl="1" indent="-457200">
              <a:lnSpc>
                <a:spcPct val="120000"/>
              </a:lnSpc>
              <a:spcBef>
                <a:spcPts val="300"/>
              </a:spcBef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Does the user understand why that action will help them reach their objective?</a:t>
            </a:r>
          </a:p>
          <a:p>
            <a:pPr marL="962628" lvl="1" indent="-457200">
              <a:lnSpc>
                <a:spcPct val="120000"/>
              </a:lnSpc>
              <a:spcBef>
                <a:spcPts val="300"/>
              </a:spcBef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After the action, does the prototype give clear feedback that tells the user the task succeeded or failed?</a:t>
            </a:r>
          </a:p>
        </p:txBody>
      </p:sp>
    </p:spTree>
    <p:extLst>
      <p:ext uri="{BB962C8B-B14F-4D97-AF65-F5344CB8AC3E}">
        <p14:creationId xmlns:p14="http://schemas.microsoft.com/office/powerpoint/2010/main" val="4287962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D5C443-2CF2-E741-A5B2-EF0B07C8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95317"/>
            <a:ext cx="11430000" cy="697766"/>
          </a:xfrm>
        </p:spPr>
        <p:txBody>
          <a:bodyPr>
            <a:normAutofit/>
          </a:bodyPr>
          <a:lstStyle/>
          <a:p>
            <a:r>
              <a:rPr lang="en-US" sz="4300" b="1" dirty="0">
                <a:latin typeface="Arial" panose="020B0604020202020204" pitchFamily="34" charset="0"/>
                <a:cs typeface="Arial" panose="020B0604020202020204" pitchFamily="34" charset="0"/>
              </a:rPr>
              <a:t>User Scenario in Cognitive Walkthroughs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8FC3C3-DE7B-5C4C-83E5-0745D309A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014102"/>
            <a:ext cx="10495248" cy="5081895"/>
          </a:xfrm>
        </p:spPr>
        <p:txBody>
          <a:bodyPr vert="horz" lIns="91440" tIns="45720" rIns="91440" bIns="0" rtlCol="0" anchor="t">
            <a:noAutofit/>
          </a:bodyPr>
          <a:lstStyle/>
          <a:p>
            <a:pPr marL="51435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scenario gives the user the context and motivation they need to work through the tasks naturally. </a:t>
            </a:r>
          </a:p>
          <a:p>
            <a:pPr marL="51435" indent="0">
              <a:lnSpc>
                <a:spcPct val="120000"/>
              </a:lnSpc>
              <a:spcBef>
                <a:spcPts val="300"/>
              </a:spcBef>
              <a:buNone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11B85B-87E8-48D4-9034-DA36097FE6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299374"/>
              </p:ext>
            </p:extLst>
          </p:nvPr>
        </p:nvGraphicFramePr>
        <p:xfrm>
          <a:off x="675472" y="2858756"/>
          <a:ext cx="10051143" cy="29538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17824">
                  <a:extLst>
                    <a:ext uri="{9D8B030D-6E8A-4147-A177-3AD203B41FA5}">
                      <a16:colId xmlns:a16="http://schemas.microsoft.com/office/drawing/2014/main" val="885747115"/>
                    </a:ext>
                  </a:extLst>
                </a:gridCol>
                <a:gridCol w="4044948">
                  <a:extLst>
                    <a:ext uri="{9D8B030D-6E8A-4147-A177-3AD203B41FA5}">
                      <a16:colId xmlns:a16="http://schemas.microsoft.com/office/drawing/2014/main" val="3700323811"/>
                    </a:ext>
                  </a:extLst>
                </a:gridCol>
                <a:gridCol w="4388371">
                  <a:extLst>
                    <a:ext uri="{9D8B030D-6E8A-4147-A177-3AD203B41FA5}">
                      <a16:colId xmlns:a16="http://schemas.microsoft.com/office/drawing/2014/main" val="2624133750"/>
                    </a:ext>
                  </a:extLst>
                </a:gridCol>
              </a:tblGrid>
              <a:tr h="324653">
                <a:tc>
                  <a:txBody>
                    <a:bodyPr/>
                    <a:lstStyle/>
                    <a:p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Without Scenarios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With Scenarios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02925542"/>
                  </a:ext>
                </a:extLst>
              </a:tr>
              <a:tr h="85073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Focus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UI elements and features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User’s ability to accomplish goals/tasks using the prototype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4495151"/>
                  </a:ext>
                </a:extLst>
              </a:tr>
              <a:tr h="753192">
                <a:tc>
                  <a:txBody>
                    <a:bodyPr/>
                    <a:lstStyle/>
                    <a:p>
                      <a:pPr marL="0" marR="0" lvl="0" indent="0" algn="l" defTabSz="3428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 Questions</a:t>
                      </a:r>
                    </a:p>
                    <a:p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“Can you sort product reviews?”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“Which product reviews have the most views?”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5588183"/>
                  </a:ext>
                </a:extLst>
              </a:tr>
              <a:tr h="527234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Insight gained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Tells us if something “works”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Tells us if something “makes sense”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65867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5772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8FC3C3-DE7B-5C4C-83E5-0745D309A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014102"/>
            <a:ext cx="10495248" cy="5081895"/>
          </a:xfrm>
        </p:spPr>
        <p:txBody>
          <a:bodyPr vert="horz" lIns="91440" tIns="45720" rIns="91440" bIns="0" rtlCol="0" anchor="t">
            <a:noAutofit/>
          </a:bodyPr>
          <a:lstStyle/>
          <a:p>
            <a:pPr marL="51435" indent="0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https://www.nngroup.com/articles/cognitive-walkthrough-workshop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" indent="0">
              <a:lnSpc>
                <a:spcPct val="120000"/>
              </a:lnSpc>
              <a:spcBef>
                <a:spcPts val="300"/>
              </a:spcBef>
              <a:buNone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258759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44</TotalTime>
  <Words>500</Words>
  <Application>Microsoft Office PowerPoint</Application>
  <PresentationFormat>Widescreen</PresentationFormat>
  <Paragraphs>46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Century Schoolbook</vt:lpstr>
      <vt:lpstr>Wingdings 2</vt:lpstr>
      <vt:lpstr>View</vt:lpstr>
      <vt:lpstr>Cognitive Walkthrough Overview</vt:lpstr>
      <vt:lpstr>What is a Cognitive Walkthrough?</vt:lpstr>
      <vt:lpstr>Designing Cognitive Walkthrough Session</vt:lpstr>
      <vt:lpstr>User Scenario in Cognitive Walkthroughs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Cognitive Walkthrough Overview</dc:title>
  <dc:creator>Kim, Moon</dc:creator>
  <cp:lastModifiedBy>Kim, Moon</cp:lastModifiedBy>
  <cp:revision>6</cp:revision>
  <dcterms:created xsi:type="dcterms:W3CDTF">2026-03-16T21:50:13Z</dcterms:created>
  <dcterms:modified xsi:type="dcterms:W3CDTF">2026-03-17T19:28:48Z</dcterms:modified>
</cp:coreProperties>
</file>